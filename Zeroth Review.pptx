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8" r:id="rId3"/>
    <p:sldId id="321" r:id="rId4"/>
    <p:sldId id="316" r:id="rId5"/>
    <p:sldId id="261" r:id="rId6"/>
    <p:sldId id="317" r:id="rId7"/>
    <p:sldId id="294" r:id="rId8"/>
    <p:sldId id="29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1219" autoAdjust="0"/>
  </p:normalViewPr>
  <p:slideViewPr>
    <p:cSldViewPr>
      <p:cViewPr varScale="1">
        <p:scale>
          <a:sx n="81" d="100"/>
          <a:sy n="81" d="100"/>
        </p:scale>
        <p:origin x="600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92527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March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9" name="Google Shape;31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0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0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-1193533" y="76200"/>
            <a:ext cx="375385" cy="859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rgbClr val="000000"/>
                </a:solidFill>
              </a:rPr>
              <a:t>14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-May-24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4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7400" y="1447800"/>
            <a:ext cx="13747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400" y="4419600"/>
            <a:ext cx="147955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1C00E9AD-726B-5697-D90F-7D6EB9F8151B}"/>
              </a:ext>
            </a:extLst>
          </p:cNvPr>
          <p:cNvSpPr/>
          <p:nvPr/>
        </p:nvSpPr>
        <p:spPr>
          <a:xfrm>
            <a:off x="5105400" y="2844780"/>
            <a:ext cx="613410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800" b="1" kern="1200" dirty="0">
                <a:solidFill>
                  <a:srgbClr val="0F6FC6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PROJECT MEMBERS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DINESHBALAJI A – 23CSR054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DHAKSHANESH R – 23CSR042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ARAVINDAN T – 23CSR020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1200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	       (19ITR01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1200" dirty="0">
                <a:solidFill>
                  <a:srgbClr val="0F6FC6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PROJECT GUIDE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srgbClr val="0F6FC6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P. YUVARANI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Assistant Professor/Department of CSE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8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Kongu</a:t>
            </a: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Engineering College</a:t>
            </a:r>
          </a:p>
        </p:txBody>
      </p:sp>
      <p:sp>
        <p:nvSpPr>
          <p:cNvPr id="5" name="Google Shape;86;p14">
            <a:extLst>
              <a:ext uri="{FF2B5EF4-FFF2-40B4-BE49-F238E27FC236}">
                <a16:creationId xmlns:a16="http://schemas.microsoft.com/office/drawing/2014/main" id="{90FFF1B5-69D7-CC32-6B55-76164F2524CE}"/>
              </a:ext>
            </a:extLst>
          </p:cNvPr>
          <p:cNvSpPr txBox="1">
            <a:spLocks/>
          </p:cNvSpPr>
          <p:nvPr/>
        </p:nvSpPr>
        <p:spPr>
          <a:xfrm>
            <a:off x="4114800" y="607935"/>
            <a:ext cx="7772400" cy="1870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VARICOSE VEIN DETECTION USING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body" idx="4294967295"/>
          </p:nvPr>
        </p:nvSpPr>
        <p:spPr>
          <a:xfrm>
            <a:off x="1447800" y="1804708"/>
            <a:ext cx="9677400" cy="490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Varicose veins are a common vascular disease affecting the lower limbs.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is important to prevent severe complications.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requires clinical expertise and specialized equipment.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automated solutions are limited and not widely accessible.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Deep Learning-based system for automatic varicose vein detection using image analysis.</a:t>
            </a:r>
          </a:p>
        </p:txBody>
      </p:sp>
      <p:sp>
        <p:nvSpPr>
          <p:cNvPr id="108" name="Google Shape;108;p16"/>
          <p:cNvSpPr/>
          <p:nvPr/>
        </p:nvSpPr>
        <p:spPr>
          <a:xfrm>
            <a:off x="2514600" y="609600"/>
            <a:ext cx="86106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2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16">
            <a:extLst>
              <a:ext uri="{FF2B5EF4-FFF2-40B4-BE49-F238E27FC236}">
                <a16:creationId xmlns:a16="http://schemas.microsoft.com/office/drawing/2014/main" id="{F6D879F2-24BE-DBA3-31BC-BC87F0786889}"/>
              </a:ext>
            </a:extLst>
          </p:cNvPr>
          <p:cNvSpPr txBox="1">
            <a:spLocks/>
          </p:cNvSpPr>
          <p:nvPr/>
        </p:nvSpPr>
        <p:spPr>
          <a:xfrm>
            <a:off x="1600200" y="1905000"/>
            <a:ext cx="9677400" cy="4234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108;p16">
            <a:extLst>
              <a:ext uri="{FF2B5EF4-FFF2-40B4-BE49-F238E27FC236}">
                <a16:creationId xmlns:a16="http://schemas.microsoft.com/office/drawing/2014/main" id="{90029C2D-7C59-AE11-41E2-D09E90E27E39}"/>
              </a:ext>
            </a:extLst>
          </p:cNvPr>
          <p:cNvSpPr/>
          <p:nvPr/>
        </p:nvSpPr>
        <p:spPr>
          <a:xfrm>
            <a:off x="2514600" y="609600"/>
            <a:ext cx="86106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lang="en-US" sz="36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110;p16">
            <a:extLst>
              <a:ext uri="{FF2B5EF4-FFF2-40B4-BE49-F238E27FC236}">
                <a16:creationId xmlns:a16="http://schemas.microsoft.com/office/drawing/2014/main" id="{8200A549-AEB7-C0B6-919F-6A04BEA7CEB3}"/>
              </a:ext>
            </a:extLst>
          </p:cNvPr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3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1;p16">
            <a:extLst>
              <a:ext uri="{FF2B5EF4-FFF2-40B4-BE49-F238E27FC236}">
                <a16:creationId xmlns:a16="http://schemas.microsoft.com/office/drawing/2014/main" id="{C4369A24-083C-CA20-F733-EC896650CE69}"/>
              </a:ext>
            </a:extLst>
          </p:cNvPr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EDA7D0-646E-6BFF-E780-2B315E5D7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098136"/>
              </p:ext>
            </p:extLst>
          </p:nvPr>
        </p:nvGraphicFramePr>
        <p:xfrm>
          <a:off x="1447800" y="1317487"/>
          <a:ext cx="10210804" cy="506426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3177889518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84775027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723829402"/>
                    </a:ext>
                  </a:extLst>
                </a:gridCol>
                <a:gridCol w="3352804">
                  <a:extLst>
                    <a:ext uri="{9D8B030D-6E8A-4147-A177-3AD203B41FA5}">
                      <a16:colId xmlns:a16="http://schemas.microsoft.com/office/drawing/2014/main" val="3538600588"/>
                    </a:ext>
                  </a:extLst>
                </a:gridCol>
              </a:tblGrid>
              <a:tr h="27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S.No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Paper Title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Methodology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Limitation</a:t>
                      </a:r>
                    </a:p>
                  </a:txBody>
                  <a:tcPr marL="72353" marR="72353" marT="36177" marB="36177" anchor="ctr"/>
                </a:tc>
                <a:extLst>
                  <a:ext uri="{0D108BD9-81ED-4DB2-BD59-A6C34878D82A}">
                    <a16:rowId xmlns:a16="http://schemas.microsoft.com/office/drawing/2014/main" val="889822612"/>
                  </a:ext>
                </a:extLst>
              </a:tr>
              <a:tr h="1057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1</a:t>
                      </a:r>
                      <a:endParaRPr lang="en-IN" sz="1100" dirty="0"/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Detection of Varicose Vein Disease using </a:t>
                      </a:r>
                      <a:r>
                        <a:rPr lang="en-IN" sz="1100" b="1" dirty="0" err="1"/>
                        <a:t>HyKBRNet</a:t>
                      </a:r>
                      <a:r>
                        <a:rPr lang="en-IN" sz="1100" b="1" dirty="0"/>
                        <a:t>-DLSTM (2024)</a:t>
                      </a:r>
                      <a:endParaRPr lang="en-IN" sz="1100" dirty="0"/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Hybrid Deep Learning framework using preprocessing, feature extraction, optimization and classification for varicose vein detection.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High computational complexity and difficult deployment in resource-constrained systems.</a:t>
                      </a:r>
                    </a:p>
                  </a:txBody>
                  <a:tcPr marL="72353" marR="72353" marT="36177" marB="36177" anchor="ctr"/>
                </a:tc>
                <a:extLst>
                  <a:ext uri="{0D108BD9-81ED-4DB2-BD59-A6C34878D82A}">
                    <a16:rowId xmlns:a16="http://schemas.microsoft.com/office/drawing/2014/main" val="728560784"/>
                  </a:ext>
                </a:extLst>
              </a:tr>
              <a:tr h="862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2</a:t>
                      </a:r>
                      <a:endParaRPr lang="en-IN" sz="1100" dirty="0"/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Quantitative Evaluation of Lower Limb Varicose Veins using Photoacoustic Imaging (2024)</a:t>
                      </a:r>
                      <a:endParaRPr lang="en-IN" sz="1100"/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Used photoacoustic imaging and blood presence density heatmaps for quantitative vein analysis.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Requires specialized imaging equipment and limited patient samples.</a:t>
                      </a:r>
                    </a:p>
                  </a:txBody>
                  <a:tcPr marL="72353" marR="72353" marT="36177" marB="36177" anchor="ctr"/>
                </a:tc>
                <a:extLst>
                  <a:ext uri="{0D108BD9-81ED-4DB2-BD59-A6C34878D82A}">
                    <a16:rowId xmlns:a16="http://schemas.microsoft.com/office/drawing/2014/main" val="149619570"/>
                  </a:ext>
                </a:extLst>
              </a:tr>
              <a:tr h="862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3</a:t>
                      </a:r>
                      <a:endParaRPr lang="en-IN" sz="1100"/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Deep Learning based Segmentation of OCT Images of Human Saphenous Varicose Vein (2022)</a:t>
                      </a:r>
                      <a:endParaRPr lang="en-IN" sz="1100"/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U-Net based segmentation with residual blocks and </a:t>
                      </a:r>
                      <a:r>
                        <a:rPr lang="en-IN" sz="1100" dirty="0" err="1"/>
                        <a:t>atrous</a:t>
                      </a:r>
                      <a:r>
                        <a:rPr lang="en-IN" sz="1100" dirty="0"/>
                        <a:t> convolution for vein boundary extraction.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Requires OCT imaging systems and specialized datasets.</a:t>
                      </a:r>
                    </a:p>
                  </a:txBody>
                  <a:tcPr marL="72353" marR="72353" marT="36177" marB="36177" anchor="ctr"/>
                </a:tc>
                <a:extLst>
                  <a:ext uri="{0D108BD9-81ED-4DB2-BD59-A6C34878D82A}">
                    <a16:rowId xmlns:a16="http://schemas.microsoft.com/office/drawing/2014/main" val="2689862950"/>
                  </a:ext>
                </a:extLst>
              </a:tr>
              <a:tr h="667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4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Clinical Examination of Varicose Veins – A Validation Study (2000)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Compared clinical examination methods with duplex imaging for diagnosis.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Manual diagnosis shows lower reliability and depends on clinician expertise.</a:t>
                      </a:r>
                    </a:p>
                  </a:txBody>
                  <a:tcPr marL="72353" marR="72353" marT="36177" marB="36177" anchor="ctr"/>
                </a:tc>
                <a:extLst>
                  <a:ext uri="{0D108BD9-81ED-4DB2-BD59-A6C34878D82A}">
                    <a16:rowId xmlns:a16="http://schemas.microsoft.com/office/drawing/2014/main" val="2830007014"/>
                  </a:ext>
                </a:extLst>
              </a:tr>
              <a:tr h="667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5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Varicose Veins – Clinician Update (2014)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Reviewed anatomy, risk factors, diagnosis and treatment approaches.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Focuses on medical understanding rather than automated detection.</a:t>
                      </a:r>
                    </a:p>
                  </a:txBody>
                  <a:tcPr marL="72353" marR="72353" marT="36177" marB="36177" anchor="ctr"/>
                </a:tc>
                <a:extLst>
                  <a:ext uri="{0D108BD9-81ED-4DB2-BD59-A6C34878D82A}">
                    <a16:rowId xmlns:a16="http://schemas.microsoft.com/office/drawing/2014/main" val="3437206953"/>
                  </a:ext>
                </a:extLst>
              </a:tr>
              <a:tr h="667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6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Real-Time Epidemiology of Varicose Veins Prediction using Decision Tree (2021)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Used sensor data and Decision Tree algorithm for early-stage prediction.</a:t>
                      </a:r>
                    </a:p>
                  </a:txBody>
                  <a:tcPr marL="72353" marR="72353" marT="36177" marB="361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Lower accuracy and scalability compared to modern Deep Learning approaches.</a:t>
                      </a:r>
                    </a:p>
                  </a:txBody>
                  <a:tcPr marL="72353" marR="72353" marT="36177" marB="36177" anchor="ctr"/>
                </a:tc>
                <a:extLst>
                  <a:ext uri="{0D108BD9-81ED-4DB2-BD59-A6C34878D82A}">
                    <a16:rowId xmlns:a16="http://schemas.microsoft.com/office/drawing/2014/main" val="2987112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27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3363686" y="457200"/>
            <a:ext cx="62484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4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38FB4-58A5-3E44-FBC2-70631BB4EF55}"/>
              </a:ext>
            </a:extLst>
          </p:cNvPr>
          <p:cNvSpPr txBox="1"/>
          <p:nvPr/>
        </p:nvSpPr>
        <p:spPr>
          <a:xfrm>
            <a:off x="1752600" y="1572885"/>
            <a:ext cx="9525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of varicose veins relies on clinical examination and specialist interpretation, which may vary between clinicians.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machine learning approaches provide basic prediction capabilities but often lack the accuracy required for reliable diagnosis.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imaging techniques such as Optical Coherence Tomography (OCT) and Photoacoustic Imaging offer detailed analysis but require costly and specialized equipment.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deep learning models achieve high accuracy but involve complex architectures and high computational requirements, limiting practical deployment.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studies focus primarily on detection and do not provide a complete, user-friendly system for real-world usage.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automated, accurate, and accessible deep learning-based solution that can assist in the early detection of varicose veins using image analysis while remaining practical for deployment.</a:t>
            </a:r>
          </a:p>
        </p:txBody>
      </p:sp>
    </p:spTree>
    <p:extLst>
      <p:ext uri="{BB962C8B-B14F-4D97-AF65-F5344CB8AC3E}">
        <p14:creationId xmlns:p14="http://schemas.microsoft.com/office/powerpoint/2010/main" val="3795411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3657600" y="457200"/>
            <a:ext cx="62484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5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06D1DE-885F-9962-90A6-56EE9A675A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828800" y="1372264"/>
            <a:ext cx="9448800" cy="4452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preprocess varicose vein image datasets using image enhancement and augmentation techniques.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Deep Learning-based varicose vein detection model using architectures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MobileNetV3, ResNet18, or EfficientNet-B0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relevant vein features from leg images and classify them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Varicose Vein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detection performance through transfer learning and hyperparameter tuning.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affected regions using Explainable AI techniques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web-based platform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React, Flask/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detection and result visualization.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proposed model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F1-Score, and Confusion Matrix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3657600" y="457200"/>
            <a:ext cx="62484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6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06D1DE-885F-9962-90A6-56EE9A675A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668172" y="1769783"/>
            <a:ext cx="9609428" cy="4042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Utilization of Transfer Learning techniques for varicose vein detection using limited medical image datasets.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Convolutional Neural Networks (CNNs) for automated feature extraction and classification of vein images.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image preprocessing and augmentation techniques to improve model robustness and detection performance.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Explainable AI (Grad-CAM) to visualize the regions influencing model predictions.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unified framework combining image analysis, classification, and result interpretation for varicose vein detection.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76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body" idx="4294967295"/>
          </p:nvPr>
        </p:nvSpPr>
        <p:spPr>
          <a:xfrm>
            <a:off x="1676400" y="1752600"/>
            <a:ext cx="9679004" cy="425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Varicose vein detection is an important healthcare problem.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have limitations in accessibility and automation.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provides an effective approach for image-based detection.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work focuses on developing an AI-assisted detection framework.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support accurate and early identification of varicose veins.</a:t>
            </a:r>
            <a:endParaRPr lang="en-IN" sz="24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133600" y="533400"/>
            <a:ext cx="9057968" cy="9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4000"/>
            </a:pPr>
            <a:r>
              <a:rPr lang="en-US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7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 txBox="1">
            <a:spLocks noGrp="1"/>
          </p:cNvSpPr>
          <p:nvPr>
            <p:ph type="body" idx="4294967295"/>
          </p:nvPr>
        </p:nvSpPr>
        <p:spPr>
          <a:xfrm>
            <a:off x="2362200" y="2646484"/>
            <a:ext cx="7315200" cy="276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sz="5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51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8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51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1667</TotalTime>
  <Words>727</Words>
  <Application>Microsoft Office PowerPoint</Application>
  <PresentationFormat>Widescreen</PresentationFormat>
  <Paragraphs>86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Noto Sans Symbols</vt:lpstr>
      <vt:lpstr>Times New Roman</vt:lpstr>
      <vt:lpstr>Wingdings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for New Cape Hotel</dc:title>
  <dc:creator>babu js</dc:creator>
  <cp:lastModifiedBy>DINESHBALAJI A</cp:lastModifiedBy>
  <cp:revision>90</cp:revision>
  <dcterms:modified xsi:type="dcterms:W3CDTF">2026-06-24T18:00:30Z</dcterms:modified>
</cp:coreProperties>
</file>